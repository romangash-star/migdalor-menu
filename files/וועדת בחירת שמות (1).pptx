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57" r:id="rId2"/>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005" autoAdjust="0"/>
    <p:restoredTop sz="94660"/>
  </p:normalViewPr>
  <p:slideViewPr>
    <p:cSldViewPr snapToGrid="0">
      <p:cViewPr varScale="1">
        <p:scale>
          <a:sx n="72" d="100"/>
          <a:sy n="72" d="100"/>
        </p:scale>
        <p:origin x="312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38B9B443-92EE-42A8-A7B7-4A2F81E52593}" type="datetimeFigureOut">
              <a:rPr lang="he-IL" smtClean="0"/>
              <a:t>י"ג/תמוז/תשפ"ו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C267787F-B7E9-43DB-BB20-3F242A4B203E}" type="slidenum">
              <a:rPr lang="he-IL" smtClean="0"/>
              <a:t>‹#›</a:t>
            </a:fld>
            <a:endParaRPr lang="he-IL"/>
          </a:p>
        </p:txBody>
      </p:sp>
    </p:spTree>
    <p:extLst>
      <p:ext uri="{BB962C8B-B14F-4D97-AF65-F5344CB8AC3E}">
        <p14:creationId xmlns:p14="http://schemas.microsoft.com/office/powerpoint/2010/main" val="205095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38B9B443-92EE-42A8-A7B7-4A2F81E52593}" type="datetimeFigureOut">
              <a:rPr lang="he-IL" smtClean="0"/>
              <a:t>י"ג/תמוז/תשפ"ו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C267787F-B7E9-43DB-BB20-3F242A4B203E}" type="slidenum">
              <a:rPr lang="he-IL" smtClean="0"/>
              <a:t>‹#›</a:t>
            </a:fld>
            <a:endParaRPr lang="he-IL"/>
          </a:p>
        </p:txBody>
      </p:sp>
    </p:spTree>
    <p:extLst>
      <p:ext uri="{BB962C8B-B14F-4D97-AF65-F5344CB8AC3E}">
        <p14:creationId xmlns:p14="http://schemas.microsoft.com/office/powerpoint/2010/main" val="939746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tint val="82000"/>
                  </a:schemeClr>
                </a:solidFill>
              </a:defRPr>
            </a:lvl1pPr>
            <a:lvl2pPr marL="377967" indent="0">
              <a:buNone/>
              <a:defRPr sz="1653">
                <a:solidFill>
                  <a:schemeClr val="tx1">
                    <a:tint val="82000"/>
                  </a:schemeClr>
                </a:solidFill>
              </a:defRPr>
            </a:lvl2pPr>
            <a:lvl3pPr marL="755934" indent="0">
              <a:buNone/>
              <a:defRPr sz="1488">
                <a:solidFill>
                  <a:schemeClr val="tx1">
                    <a:tint val="82000"/>
                  </a:schemeClr>
                </a:solidFill>
              </a:defRPr>
            </a:lvl3pPr>
            <a:lvl4pPr marL="1133902" indent="0">
              <a:buNone/>
              <a:defRPr sz="1323">
                <a:solidFill>
                  <a:schemeClr val="tx1">
                    <a:tint val="82000"/>
                  </a:schemeClr>
                </a:solidFill>
              </a:defRPr>
            </a:lvl4pPr>
            <a:lvl5pPr marL="1511869" indent="0">
              <a:buNone/>
              <a:defRPr sz="1323">
                <a:solidFill>
                  <a:schemeClr val="tx1">
                    <a:tint val="82000"/>
                  </a:schemeClr>
                </a:solidFill>
              </a:defRPr>
            </a:lvl5pPr>
            <a:lvl6pPr marL="1889836" indent="0">
              <a:buNone/>
              <a:defRPr sz="1323">
                <a:solidFill>
                  <a:schemeClr val="tx1">
                    <a:tint val="82000"/>
                  </a:schemeClr>
                </a:solidFill>
              </a:defRPr>
            </a:lvl6pPr>
            <a:lvl7pPr marL="2267803" indent="0">
              <a:buNone/>
              <a:defRPr sz="1323">
                <a:solidFill>
                  <a:schemeClr val="tx1">
                    <a:tint val="82000"/>
                  </a:schemeClr>
                </a:solidFill>
              </a:defRPr>
            </a:lvl7pPr>
            <a:lvl8pPr marL="2645771" indent="0">
              <a:buNone/>
              <a:defRPr sz="1323">
                <a:solidFill>
                  <a:schemeClr val="tx1">
                    <a:tint val="82000"/>
                  </a:schemeClr>
                </a:solidFill>
              </a:defRPr>
            </a:lvl8pPr>
            <a:lvl9pPr marL="3023738" indent="0">
              <a:buNone/>
              <a:defRPr sz="1323">
                <a:solidFill>
                  <a:schemeClr val="tx1">
                    <a:tint val="82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38B9B443-92EE-42A8-A7B7-4A2F81E52593}" type="datetimeFigureOut">
              <a:rPr lang="he-IL" smtClean="0"/>
              <a:t>י"ג/תמוז/תשפ"ו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C267787F-B7E9-43DB-BB20-3F242A4B203E}" type="slidenum">
              <a:rPr lang="he-IL" smtClean="0"/>
              <a:t>‹#›</a:t>
            </a:fld>
            <a:endParaRPr lang="he-IL"/>
          </a:p>
        </p:txBody>
      </p:sp>
    </p:spTree>
    <p:extLst>
      <p:ext uri="{BB962C8B-B14F-4D97-AF65-F5344CB8AC3E}">
        <p14:creationId xmlns:p14="http://schemas.microsoft.com/office/powerpoint/2010/main" val="2772491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38B9B443-92EE-42A8-A7B7-4A2F81E52593}" type="datetimeFigureOut">
              <a:rPr lang="he-IL" smtClean="0"/>
              <a:t>י"ג/תמוז/תשפ"ו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C267787F-B7E9-43DB-BB20-3F242A4B203E}" type="slidenum">
              <a:rPr lang="he-IL" smtClean="0"/>
              <a:t>‹#›</a:t>
            </a:fld>
            <a:endParaRPr lang="he-IL"/>
          </a:p>
        </p:txBody>
      </p:sp>
    </p:spTree>
    <p:extLst>
      <p:ext uri="{BB962C8B-B14F-4D97-AF65-F5344CB8AC3E}">
        <p14:creationId xmlns:p14="http://schemas.microsoft.com/office/powerpoint/2010/main" val="3179188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520713" y="3905482"/>
            <a:ext cx="3198096" cy="5744375"/>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3827086" y="3905482"/>
            <a:ext cx="3213847" cy="5744375"/>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38B9B443-92EE-42A8-A7B7-4A2F81E52593}" type="datetimeFigureOut">
              <a:rPr lang="he-IL" smtClean="0"/>
              <a:t>י"ג/תמוז/תשפ"ו</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C267787F-B7E9-43DB-BB20-3F242A4B203E}" type="slidenum">
              <a:rPr lang="he-IL" smtClean="0"/>
              <a:t>‹#›</a:t>
            </a:fld>
            <a:endParaRPr lang="he-IL"/>
          </a:p>
        </p:txBody>
      </p:sp>
    </p:spTree>
    <p:extLst>
      <p:ext uri="{BB962C8B-B14F-4D97-AF65-F5344CB8AC3E}">
        <p14:creationId xmlns:p14="http://schemas.microsoft.com/office/powerpoint/2010/main" val="1972457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38B9B443-92EE-42A8-A7B7-4A2F81E52593}" type="datetimeFigureOut">
              <a:rPr lang="he-IL" smtClean="0"/>
              <a:t>י"ג/תמוז/תשפ"ו</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C267787F-B7E9-43DB-BB20-3F242A4B203E}" type="slidenum">
              <a:rPr lang="he-IL" smtClean="0"/>
              <a:t>‹#›</a:t>
            </a:fld>
            <a:endParaRPr lang="he-IL"/>
          </a:p>
        </p:txBody>
      </p:sp>
    </p:spTree>
    <p:extLst>
      <p:ext uri="{BB962C8B-B14F-4D97-AF65-F5344CB8AC3E}">
        <p14:creationId xmlns:p14="http://schemas.microsoft.com/office/powerpoint/2010/main" val="583974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B9B443-92EE-42A8-A7B7-4A2F81E52593}" type="datetimeFigureOut">
              <a:rPr lang="he-IL" smtClean="0"/>
              <a:t>י"ג/תמוז/תשפ"ו</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C267787F-B7E9-43DB-BB20-3F242A4B203E}" type="slidenum">
              <a:rPr lang="he-IL" smtClean="0"/>
              <a:t>‹#›</a:t>
            </a:fld>
            <a:endParaRPr lang="he-IL"/>
          </a:p>
        </p:txBody>
      </p:sp>
    </p:spTree>
    <p:extLst>
      <p:ext uri="{BB962C8B-B14F-4D97-AF65-F5344CB8AC3E}">
        <p14:creationId xmlns:p14="http://schemas.microsoft.com/office/powerpoint/2010/main" val="4137480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38B9B443-92EE-42A8-A7B7-4A2F81E52593}" type="datetimeFigureOut">
              <a:rPr lang="he-IL" smtClean="0"/>
              <a:t>י"ג/תמוז/תשפ"ו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C267787F-B7E9-43DB-BB20-3F242A4B203E}" type="slidenum">
              <a:rPr lang="he-IL" smtClean="0"/>
              <a:t>‹#›</a:t>
            </a:fld>
            <a:endParaRPr lang="he-IL"/>
          </a:p>
        </p:txBody>
      </p:sp>
    </p:spTree>
    <p:extLst>
      <p:ext uri="{BB962C8B-B14F-4D97-AF65-F5344CB8AC3E}">
        <p14:creationId xmlns:p14="http://schemas.microsoft.com/office/powerpoint/2010/main" val="4197926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38B9B443-92EE-42A8-A7B7-4A2F81E52593}" type="datetimeFigureOut">
              <a:rPr lang="he-IL" smtClean="0"/>
              <a:t>י"ג/תמוז/תשפ"ו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C267787F-B7E9-43DB-BB20-3F242A4B203E}" type="slidenum">
              <a:rPr lang="he-IL" smtClean="0"/>
              <a:t>‹#›</a:t>
            </a:fld>
            <a:endParaRPr lang="he-IL"/>
          </a:p>
        </p:txBody>
      </p:sp>
    </p:spTree>
    <p:extLst>
      <p:ext uri="{BB962C8B-B14F-4D97-AF65-F5344CB8AC3E}">
        <p14:creationId xmlns:p14="http://schemas.microsoft.com/office/powerpoint/2010/main" val="86597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38B9B443-92EE-42A8-A7B7-4A2F81E52593}" type="datetimeFigureOut">
              <a:rPr lang="he-IL" smtClean="0"/>
              <a:t>י"ג/תמוז/תשפ"ו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C267787F-B7E9-43DB-BB20-3F242A4B203E}" type="slidenum">
              <a:rPr lang="he-IL" smtClean="0"/>
              <a:t>‹#›</a:t>
            </a:fld>
            <a:endParaRPr lang="he-IL"/>
          </a:p>
        </p:txBody>
      </p:sp>
    </p:spTree>
    <p:extLst>
      <p:ext uri="{BB962C8B-B14F-4D97-AF65-F5344CB8AC3E}">
        <p14:creationId xmlns:p14="http://schemas.microsoft.com/office/powerpoint/2010/main" val="2140696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38B9B443-92EE-42A8-A7B7-4A2F81E52593}" type="datetimeFigureOut">
              <a:rPr lang="he-IL" smtClean="0"/>
              <a:t>י"ג/תמוז/תשפ"ו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C267787F-B7E9-43DB-BB20-3F242A4B203E}" type="slidenum">
              <a:rPr lang="he-IL" smtClean="0"/>
              <a:t>‹#›</a:t>
            </a:fld>
            <a:endParaRPr lang="he-IL"/>
          </a:p>
        </p:txBody>
      </p:sp>
    </p:spTree>
    <p:extLst>
      <p:ext uri="{BB962C8B-B14F-4D97-AF65-F5344CB8AC3E}">
        <p14:creationId xmlns:p14="http://schemas.microsoft.com/office/powerpoint/2010/main" val="2458152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82000"/>
                  </a:schemeClr>
                </a:solidFill>
              </a:defRPr>
            </a:lvl1pPr>
          </a:lstStyle>
          <a:p>
            <a:fld id="{38B9B443-92EE-42A8-A7B7-4A2F81E52593}" type="datetimeFigureOut">
              <a:rPr lang="he-IL" smtClean="0"/>
              <a:t>י"ג/תמוז/תשפ"ו</a:t>
            </a:fld>
            <a:endParaRPr lang="he-IL"/>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82000"/>
                  </a:schemeClr>
                </a:solidFill>
              </a:defRPr>
            </a:lvl1pPr>
          </a:lstStyle>
          <a:p>
            <a:endParaRPr lang="he-IL"/>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82000"/>
                  </a:schemeClr>
                </a:solidFill>
              </a:defRPr>
            </a:lvl1pPr>
          </a:lstStyle>
          <a:p>
            <a:fld id="{C267787F-B7E9-43DB-BB20-3F242A4B203E}" type="slidenum">
              <a:rPr lang="he-IL" smtClean="0"/>
              <a:t>‹#›</a:t>
            </a:fld>
            <a:endParaRPr lang="he-IL"/>
          </a:p>
        </p:txBody>
      </p:sp>
    </p:spTree>
    <p:extLst>
      <p:ext uri="{BB962C8B-B14F-4D97-AF65-F5344CB8AC3E}">
        <p14:creationId xmlns:p14="http://schemas.microsoft.com/office/powerpoint/2010/main" val="267428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55934" rtl="1"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r" defTabSz="755934" rtl="1"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r" defTabSz="755934" rtl="1"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r" defTabSz="755934" rtl="1"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r" defTabSz="755934" rtl="1"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r" defTabSz="755934" rtl="1"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r" defTabSz="755934" rtl="1"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r" defTabSz="755934" rtl="1"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r" defTabSz="755934" rtl="1"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r" defTabSz="755934" rtl="1"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r" defTabSz="755934" rtl="1" eaLnBrk="1" latinLnBrk="0" hangingPunct="1">
        <a:defRPr sz="1488" kern="1200">
          <a:solidFill>
            <a:schemeClr val="tx1"/>
          </a:solidFill>
          <a:latin typeface="+mn-lt"/>
          <a:ea typeface="+mn-ea"/>
          <a:cs typeface="+mn-cs"/>
        </a:defRPr>
      </a:lvl1pPr>
      <a:lvl2pPr marL="377967" algn="r" defTabSz="755934" rtl="1" eaLnBrk="1" latinLnBrk="0" hangingPunct="1">
        <a:defRPr sz="1488" kern="1200">
          <a:solidFill>
            <a:schemeClr val="tx1"/>
          </a:solidFill>
          <a:latin typeface="+mn-lt"/>
          <a:ea typeface="+mn-ea"/>
          <a:cs typeface="+mn-cs"/>
        </a:defRPr>
      </a:lvl2pPr>
      <a:lvl3pPr marL="755934" algn="r" defTabSz="755934" rtl="1" eaLnBrk="1" latinLnBrk="0" hangingPunct="1">
        <a:defRPr sz="1488" kern="1200">
          <a:solidFill>
            <a:schemeClr val="tx1"/>
          </a:solidFill>
          <a:latin typeface="+mn-lt"/>
          <a:ea typeface="+mn-ea"/>
          <a:cs typeface="+mn-cs"/>
        </a:defRPr>
      </a:lvl3pPr>
      <a:lvl4pPr marL="1133902" algn="r" defTabSz="755934" rtl="1" eaLnBrk="1" latinLnBrk="0" hangingPunct="1">
        <a:defRPr sz="1488" kern="1200">
          <a:solidFill>
            <a:schemeClr val="tx1"/>
          </a:solidFill>
          <a:latin typeface="+mn-lt"/>
          <a:ea typeface="+mn-ea"/>
          <a:cs typeface="+mn-cs"/>
        </a:defRPr>
      </a:lvl4pPr>
      <a:lvl5pPr marL="1511869" algn="r" defTabSz="755934" rtl="1" eaLnBrk="1" latinLnBrk="0" hangingPunct="1">
        <a:defRPr sz="1488" kern="1200">
          <a:solidFill>
            <a:schemeClr val="tx1"/>
          </a:solidFill>
          <a:latin typeface="+mn-lt"/>
          <a:ea typeface="+mn-ea"/>
          <a:cs typeface="+mn-cs"/>
        </a:defRPr>
      </a:lvl5pPr>
      <a:lvl6pPr marL="1889836" algn="r" defTabSz="755934" rtl="1" eaLnBrk="1" latinLnBrk="0" hangingPunct="1">
        <a:defRPr sz="1488" kern="1200">
          <a:solidFill>
            <a:schemeClr val="tx1"/>
          </a:solidFill>
          <a:latin typeface="+mn-lt"/>
          <a:ea typeface="+mn-ea"/>
          <a:cs typeface="+mn-cs"/>
        </a:defRPr>
      </a:lvl6pPr>
      <a:lvl7pPr marL="2267803" algn="r" defTabSz="755934" rtl="1" eaLnBrk="1" latinLnBrk="0" hangingPunct="1">
        <a:defRPr sz="1488" kern="1200">
          <a:solidFill>
            <a:schemeClr val="tx1"/>
          </a:solidFill>
          <a:latin typeface="+mn-lt"/>
          <a:ea typeface="+mn-ea"/>
          <a:cs typeface="+mn-cs"/>
        </a:defRPr>
      </a:lvl7pPr>
      <a:lvl8pPr marL="2645771" algn="r" defTabSz="755934" rtl="1" eaLnBrk="1" latinLnBrk="0" hangingPunct="1">
        <a:defRPr sz="1488" kern="1200">
          <a:solidFill>
            <a:schemeClr val="tx1"/>
          </a:solidFill>
          <a:latin typeface="+mn-lt"/>
          <a:ea typeface="+mn-ea"/>
          <a:cs typeface="+mn-cs"/>
        </a:defRPr>
      </a:lvl8pPr>
      <a:lvl9pPr marL="3023738" algn="r" defTabSz="755934" rtl="1"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a:extLst>
              <a:ext uri="{FF2B5EF4-FFF2-40B4-BE49-F238E27FC236}">
                <a16:creationId xmlns:a16="http://schemas.microsoft.com/office/drawing/2014/main" id="{0283412F-403A-0B89-0E09-1818323FE7C8}"/>
              </a:ext>
            </a:extLst>
          </p:cNvPr>
          <p:cNvSpPr>
            <a:spLocks noChangeAspect="1" noChangeArrowheads="1"/>
          </p:cNvSpPr>
          <p:nvPr/>
        </p:nvSpPr>
        <p:spPr bwMode="auto">
          <a:xfrm>
            <a:off x="2589062" y="3430526"/>
            <a:ext cx="408318" cy="40831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54312" tIns="27156" rIns="54312" bIns="27156" numCol="1" anchor="t" anchorCtr="0" compatLnSpc="1">
            <a:prstTxWarp prst="textNoShape">
              <a:avLst/>
            </a:prstTxWarp>
          </a:bodyPr>
          <a:lstStyle/>
          <a:p>
            <a:endParaRPr lang="he-IL" sz="1069"/>
          </a:p>
        </p:txBody>
      </p:sp>
      <p:pic>
        <p:nvPicPr>
          <p:cNvPr id="5" name="תמונה 4">
            <a:extLst>
              <a:ext uri="{FF2B5EF4-FFF2-40B4-BE49-F238E27FC236}">
                <a16:creationId xmlns:a16="http://schemas.microsoft.com/office/drawing/2014/main" id="{E75029DC-EB3C-828F-A2CB-FA9B81B7DEB3}"/>
              </a:ext>
            </a:extLst>
          </p:cNvPr>
          <p:cNvPicPr>
            <a:picLocks noChangeAspect="1"/>
          </p:cNvPicPr>
          <p:nvPr/>
        </p:nvPicPr>
        <p:blipFill>
          <a:blip r:embed="rId2"/>
          <a:stretch>
            <a:fillRect/>
          </a:stretch>
        </p:blipFill>
        <p:spPr>
          <a:xfrm>
            <a:off x="0" y="-3844"/>
            <a:ext cx="7555228" cy="4124388"/>
          </a:xfrm>
          <a:prstGeom prst="rect">
            <a:avLst/>
          </a:prstGeom>
        </p:spPr>
      </p:pic>
      <p:pic>
        <p:nvPicPr>
          <p:cNvPr id="6" name="Picture 6" descr="white-fade - ProMark F&amp;I Services">
            <a:extLst>
              <a:ext uri="{FF2B5EF4-FFF2-40B4-BE49-F238E27FC236}">
                <a16:creationId xmlns:a16="http://schemas.microsoft.com/office/drawing/2014/main" id="{DC24E3FF-7DC6-DACC-D509-58C1B94829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6" y="1168459"/>
            <a:ext cx="7555228" cy="3659369"/>
          </a:xfrm>
          <a:prstGeom prst="rect">
            <a:avLst/>
          </a:prstGeom>
          <a:noFill/>
          <a:extLst>
            <a:ext uri="{909E8E84-426E-40DD-AFC4-6F175D3DCCD1}">
              <a14:hiddenFill xmlns:a14="http://schemas.microsoft.com/office/drawing/2010/main">
                <a:solidFill>
                  <a:srgbClr val="FFFFFF"/>
                </a:solidFill>
              </a14:hiddenFill>
            </a:ext>
          </a:extLst>
        </p:spPr>
      </p:pic>
      <p:sp>
        <p:nvSpPr>
          <p:cNvPr id="11" name="מלבן 10">
            <a:extLst>
              <a:ext uri="{FF2B5EF4-FFF2-40B4-BE49-F238E27FC236}">
                <a16:creationId xmlns:a16="http://schemas.microsoft.com/office/drawing/2014/main" id="{6468F68A-8CEF-31DD-4E6D-32B93FCF1D74}"/>
              </a:ext>
            </a:extLst>
          </p:cNvPr>
          <p:cNvSpPr/>
          <p:nvPr/>
        </p:nvSpPr>
        <p:spPr>
          <a:xfrm>
            <a:off x="949234" y="3265857"/>
            <a:ext cx="5740108" cy="563272"/>
          </a:xfrm>
          <a:prstGeom prst="rect">
            <a:avLst/>
          </a:prstGeom>
          <a:solidFill>
            <a:srgbClr val="4E556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1069"/>
          </a:p>
        </p:txBody>
      </p:sp>
      <p:sp>
        <p:nvSpPr>
          <p:cNvPr id="10" name="מלבן 9">
            <a:extLst>
              <a:ext uri="{FF2B5EF4-FFF2-40B4-BE49-F238E27FC236}">
                <a16:creationId xmlns:a16="http://schemas.microsoft.com/office/drawing/2014/main" id="{C56D4914-C16E-D14B-82AE-3FBEB96F7964}"/>
              </a:ext>
            </a:extLst>
          </p:cNvPr>
          <p:cNvSpPr/>
          <p:nvPr/>
        </p:nvSpPr>
        <p:spPr>
          <a:xfrm>
            <a:off x="1056318" y="2594940"/>
            <a:ext cx="5524896" cy="615534"/>
          </a:xfrm>
          <a:prstGeom prst="rect">
            <a:avLst/>
          </a:prstGeom>
          <a:solidFill>
            <a:srgbClr val="4E556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1069"/>
          </a:p>
        </p:txBody>
      </p:sp>
      <p:sp>
        <p:nvSpPr>
          <p:cNvPr id="7" name="מלבן 6">
            <a:extLst>
              <a:ext uri="{FF2B5EF4-FFF2-40B4-BE49-F238E27FC236}">
                <a16:creationId xmlns:a16="http://schemas.microsoft.com/office/drawing/2014/main" id="{6F74B4AD-6C0A-F241-D126-0632D9728D81}"/>
              </a:ext>
            </a:extLst>
          </p:cNvPr>
          <p:cNvSpPr/>
          <p:nvPr/>
        </p:nvSpPr>
        <p:spPr>
          <a:xfrm>
            <a:off x="651691" y="2569684"/>
            <a:ext cx="6384326" cy="1285949"/>
          </a:xfrm>
          <a:prstGeom prst="rect">
            <a:avLst/>
          </a:prstGeom>
          <a:noFill/>
        </p:spPr>
        <p:txBody>
          <a:bodyPr wrap="square" lIns="54312" tIns="27156" rIns="54312" bIns="27156">
            <a:spAutoFit/>
          </a:bodyPr>
          <a:lstStyle/>
          <a:p>
            <a:pPr algn="ctr" rtl="1"/>
            <a:r>
              <a:rPr lang="he-IL" sz="4000" dirty="0">
                <a:ln w="0"/>
                <a:solidFill>
                  <a:schemeClr val="bg1"/>
                </a:solidFill>
                <a:latin typeface="NextExit Rounded Bold" panose="00000800000000000000" pitchFamily="50" charset="-79"/>
                <a:cs typeface="NextExit Rounded Bold" panose="00000800000000000000" pitchFamily="50" charset="-79"/>
              </a:rPr>
              <a:t>קול קורא להצטרפות לנבחרת עירונית מייעצת לוועדת השמות</a:t>
            </a:r>
          </a:p>
        </p:txBody>
      </p:sp>
      <p:sp>
        <p:nvSpPr>
          <p:cNvPr id="16" name="מלבן 15">
            <a:extLst>
              <a:ext uri="{FF2B5EF4-FFF2-40B4-BE49-F238E27FC236}">
                <a16:creationId xmlns:a16="http://schemas.microsoft.com/office/drawing/2014/main" id="{4CD2B59D-5A1C-4E5E-FBD6-513C60A915C2}"/>
              </a:ext>
            </a:extLst>
          </p:cNvPr>
          <p:cNvSpPr/>
          <p:nvPr/>
        </p:nvSpPr>
        <p:spPr>
          <a:xfrm>
            <a:off x="1456204" y="9616846"/>
            <a:ext cx="4647265" cy="563778"/>
          </a:xfrm>
          <a:prstGeom prst="rect">
            <a:avLst/>
          </a:prstGeom>
          <a:solidFill>
            <a:srgbClr val="E9C76F"/>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1069"/>
          </a:p>
        </p:txBody>
      </p:sp>
      <p:sp>
        <p:nvSpPr>
          <p:cNvPr id="15" name="מלבן 14">
            <a:extLst>
              <a:ext uri="{FF2B5EF4-FFF2-40B4-BE49-F238E27FC236}">
                <a16:creationId xmlns:a16="http://schemas.microsoft.com/office/drawing/2014/main" id="{F5D16407-81F6-3A9C-F445-98DBCFD93B04}"/>
              </a:ext>
            </a:extLst>
          </p:cNvPr>
          <p:cNvSpPr/>
          <p:nvPr/>
        </p:nvSpPr>
        <p:spPr>
          <a:xfrm>
            <a:off x="678194" y="4112185"/>
            <a:ext cx="6159926" cy="5102378"/>
          </a:xfrm>
          <a:prstGeom prst="rect">
            <a:avLst/>
          </a:prstGeom>
          <a:noFill/>
        </p:spPr>
        <p:txBody>
          <a:bodyPr wrap="square" lIns="54312" tIns="27156" rIns="54312" bIns="27156">
            <a:spAutoFit/>
          </a:bodyPr>
          <a:lstStyle/>
          <a:p>
            <a:pPr algn="ctr" rtl="1"/>
            <a:r>
              <a:rPr lang="he-IL" sz="1400" b="1" dirty="0">
                <a:ln w="0"/>
                <a:solidFill>
                  <a:srgbClr val="2F3341"/>
                </a:solidFill>
                <a:latin typeface="Heebo" pitchFamily="2" charset="-79"/>
                <a:cs typeface="Heebo" pitchFamily="2" charset="-79"/>
              </a:rPr>
              <a:t>הרשות המקומית מזמינה תושבות ותושבים לקחת חלק בנבחרת עירונית רב-דורית אשר תפעל כגוף מייעץ לוועדת השמות העירונית.</a:t>
            </a:r>
          </a:p>
          <a:p>
            <a:pPr algn="ctr" rtl="1"/>
            <a:endParaRPr lang="he-IL" sz="1200" dirty="0">
              <a:ln w="0"/>
              <a:solidFill>
                <a:srgbClr val="2F3341"/>
              </a:solidFill>
              <a:latin typeface="Heebo" pitchFamily="2" charset="-79"/>
              <a:cs typeface="Heebo" pitchFamily="2" charset="-79"/>
            </a:endParaRPr>
          </a:p>
          <a:p>
            <a:pPr algn="ctr" rtl="1"/>
            <a:r>
              <a:rPr lang="he-IL" sz="1200" dirty="0">
                <a:ln w="0"/>
                <a:solidFill>
                  <a:srgbClr val="2F3341"/>
                </a:solidFill>
                <a:latin typeface="Heebo" pitchFamily="2" charset="-79"/>
                <a:cs typeface="Heebo" pitchFamily="2" charset="-79"/>
              </a:rPr>
              <a:t>תהליך קבלת ההחלטות בנוגע לשמות רחובות, מוסדות ציבור ומרחבים עירוניים מתקיים במסגרת ועדת השמות העירונית, הפועלת בהתאם לנהלים מוסדרים ומגישה את המלצותיה לאישור מועצת הרשות. במסגרת תהליך זה נשקלות הצעות לשמות על בסיס שיקולים ערכיים, היסטוריים, תרבותיים וציבוריים, והן מתקבלות בהחלטה רשמית של מוסדות הרשות המוסמכים.</a:t>
            </a:r>
          </a:p>
          <a:p>
            <a:pPr algn="ctr" rtl="1"/>
            <a:endParaRPr lang="he-IL" sz="1200" dirty="0">
              <a:ln w="0"/>
              <a:solidFill>
                <a:srgbClr val="2F3341"/>
              </a:solidFill>
              <a:latin typeface="Heebo" pitchFamily="2" charset="-79"/>
              <a:cs typeface="Heebo" pitchFamily="2" charset="-79"/>
            </a:endParaRPr>
          </a:p>
          <a:p>
            <a:pPr algn="ctr" rtl="1"/>
            <a:r>
              <a:rPr lang="he-IL" sz="1200" dirty="0">
                <a:ln w="0"/>
                <a:solidFill>
                  <a:srgbClr val="2F3341"/>
                </a:solidFill>
                <a:latin typeface="Heebo" pitchFamily="2" charset="-79"/>
                <a:cs typeface="Heebo" pitchFamily="2" charset="-79"/>
              </a:rPr>
              <a:t>מטרת הנבחרת היא להרחיב את בסיס הידע, נקודות המבט והקולות המובאים לדיון בפני ועדת השמות העירונית, בתהליך קבלת ההחלטות בנוגע לשמות רחובות, מוסדות ציבור ומרחבים עירוניים.</a:t>
            </a:r>
          </a:p>
          <a:p>
            <a:pPr algn="ctr" rtl="1"/>
            <a:endParaRPr lang="he-IL" sz="1200" dirty="0">
              <a:ln w="0"/>
              <a:solidFill>
                <a:srgbClr val="2F3341"/>
              </a:solidFill>
              <a:latin typeface="Heebo" pitchFamily="2" charset="-79"/>
              <a:cs typeface="Heebo" pitchFamily="2" charset="-79"/>
            </a:endParaRPr>
          </a:p>
          <a:p>
            <a:pPr algn="ctr" rtl="1"/>
            <a:r>
              <a:rPr lang="he-IL" sz="1200" dirty="0">
                <a:ln w="0"/>
                <a:solidFill>
                  <a:srgbClr val="2F3341"/>
                </a:solidFill>
                <a:latin typeface="Heebo" pitchFamily="2" charset="-79"/>
                <a:cs typeface="Heebo" pitchFamily="2" charset="-79"/>
              </a:rPr>
              <a:t>ראש הרשות רואה חשיבות רבה ביצירת מרחב ציבורי המשקף את אופייה, זהותה והחזון העירוני של העיר, תוך חיזוק הקשר בין תושביה לבין המרחב שבו הם חיים. שילוב הקהילה בתהליכי החשיבה סביב שמות המרחב העירוני מהווה נדבך משמעותי בבניית שייכות, זהות ושיח ציבורי ערכי.</a:t>
            </a:r>
          </a:p>
          <a:p>
            <a:pPr algn="ctr" rtl="1"/>
            <a:endParaRPr lang="he-IL" sz="1200" dirty="0">
              <a:ln w="0"/>
              <a:solidFill>
                <a:srgbClr val="2F3341"/>
              </a:solidFill>
              <a:latin typeface="Heebo" pitchFamily="2" charset="-79"/>
              <a:cs typeface="Heebo" pitchFamily="2" charset="-79"/>
            </a:endParaRPr>
          </a:p>
          <a:p>
            <a:pPr algn="ctr" rtl="1"/>
            <a:r>
              <a:rPr lang="he-IL" sz="1200" dirty="0">
                <a:ln w="0"/>
                <a:solidFill>
                  <a:srgbClr val="2F3341"/>
                </a:solidFill>
                <a:latin typeface="Heebo" pitchFamily="2" charset="-79"/>
                <a:cs typeface="Heebo" pitchFamily="2" charset="-79"/>
              </a:rPr>
              <a:t>הנבחרת תכלול בני ובנות נוער, צעירים ומבוגרים מהעיר, בעלי היכרות עם המרחב המקומי ועניין בעיצובו. חברי הנבחרת יפעלו לאיתור סיפורים מקומיים, איסוף מידע היסטורי וקהילתי, וגיבוש הצעות מנומקות לשמות בעלי משמעות עירונית, תרבותית והיסטורית.</a:t>
            </a:r>
          </a:p>
          <a:p>
            <a:pPr algn="ctr" rtl="1"/>
            <a:endParaRPr lang="he-IL" sz="1200" dirty="0">
              <a:ln w="0"/>
              <a:solidFill>
                <a:srgbClr val="2F3341"/>
              </a:solidFill>
              <a:latin typeface="Heebo" pitchFamily="2" charset="-79"/>
              <a:cs typeface="Heebo" pitchFamily="2" charset="-79"/>
            </a:endParaRPr>
          </a:p>
          <a:p>
            <a:pPr algn="ctr" rtl="1"/>
            <a:r>
              <a:rPr lang="he-IL" sz="1200" dirty="0">
                <a:ln w="0"/>
                <a:solidFill>
                  <a:srgbClr val="2F3341"/>
                </a:solidFill>
                <a:latin typeface="Heebo" pitchFamily="2" charset="-79"/>
                <a:cs typeface="Heebo" pitchFamily="2" charset="-79"/>
              </a:rPr>
              <a:t>העבודה תתבצע באופן שוטף ותכלול הכנת חומרים מסודרים שיובאו לדיון בפני ועדת השמות העירונית, בהתאם לנהלים הקיימים. לצד זאת, יפעל המנגנון לאיסוף פניות והצעות מהציבור הרחב, אשר יעובדו ויוצגו כחלק מהחומרים המובאים לדיון.</a:t>
            </a:r>
          </a:p>
          <a:p>
            <a:pPr algn="ctr" rtl="1"/>
            <a:endParaRPr lang="he-IL" sz="1200" dirty="0">
              <a:ln w="0"/>
              <a:solidFill>
                <a:srgbClr val="2F3341"/>
              </a:solidFill>
              <a:latin typeface="Heebo" pitchFamily="2" charset="-79"/>
              <a:cs typeface="Heebo" pitchFamily="2" charset="-79"/>
            </a:endParaRPr>
          </a:p>
          <a:p>
            <a:pPr algn="ctr" rtl="1"/>
            <a:r>
              <a:rPr lang="he-IL" sz="1200" b="1" dirty="0">
                <a:ln w="0"/>
                <a:solidFill>
                  <a:srgbClr val="2F3341"/>
                </a:solidFill>
                <a:latin typeface="Heebo" pitchFamily="2" charset="-79"/>
                <a:cs typeface="Heebo" pitchFamily="2" charset="-79"/>
              </a:rPr>
              <a:t>ההשתתפות בנבחרת מהווה הזדמנות לקחת חלק פעיל ומשמעותי בעיצוב המרחב הציבורי בעיר, ולחזק את הקשר בין הקהילה לבין תהליכי קבלת ההחלטות העירוניים.</a:t>
            </a:r>
          </a:p>
          <a:p>
            <a:pPr algn="ctr" rtl="1"/>
            <a:endParaRPr lang="he-IL" sz="1200" dirty="0">
              <a:ln w="0"/>
              <a:solidFill>
                <a:srgbClr val="2F3341"/>
              </a:solidFill>
              <a:latin typeface="Heebo" pitchFamily="2" charset="-79"/>
              <a:cs typeface="Heebo" pitchFamily="2" charset="-79"/>
            </a:endParaRPr>
          </a:p>
          <a:p>
            <a:pPr algn="ctr" rtl="1"/>
            <a:r>
              <a:rPr lang="he-IL" sz="1200" dirty="0">
                <a:ln w="0"/>
                <a:solidFill>
                  <a:srgbClr val="2F3341"/>
                </a:solidFill>
                <a:latin typeface="Heebo" pitchFamily="2" charset="-79"/>
                <a:cs typeface="Heebo" pitchFamily="2" charset="-79"/>
              </a:rPr>
              <a:t>תנאי סף, היקף פעילות ופרטי הרשמה יפורסמו בנפרד על ידי הרשות המקומית.</a:t>
            </a:r>
          </a:p>
        </p:txBody>
      </p:sp>
      <p:sp>
        <p:nvSpPr>
          <p:cNvPr id="17" name="מלבן 16">
            <a:extLst>
              <a:ext uri="{FF2B5EF4-FFF2-40B4-BE49-F238E27FC236}">
                <a16:creationId xmlns:a16="http://schemas.microsoft.com/office/drawing/2014/main" id="{3841033F-39CE-7482-1B40-6834797A20E6}"/>
              </a:ext>
            </a:extLst>
          </p:cNvPr>
          <p:cNvSpPr/>
          <p:nvPr/>
        </p:nvSpPr>
        <p:spPr>
          <a:xfrm>
            <a:off x="1601679" y="9688584"/>
            <a:ext cx="4597873" cy="270286"/>
          </a:xfrm>
          <a:prstGeom prst="rect">
            <a:avLst/>
          </a:prstGeom>
          <a:noFill/>
        </p:spPr>
        <p:txBody>
          <a:bodyPr wrap="square" lIns="54312" tIns="27156" rIns="54312" bIns="27156">
            <a:spAutoFit/>
          </a:bodyPr>
          <a:lstStyle/>
          <a:p>
            <a:pPr algn="ctr" rtl="1"/>
            <a:r>
              <a:rPr lang="he-IL" sz="1400" b="1" dirty="0">
                <a:ln w="0"/>
                <a:solidFill>
                  <a:srgbClr val="2F3341"/>
                </a:solidFill>
                <a:latin typeface="Heebo" pitchFamily="2" charset="-79"/>
                <a:cs typeface="Heebo" pitchFamily="2" charset="-79"/>
              </a:rPr>
              <a:t>לפרטים נוספים, היכנסו לאתר הרשות המקומית </a:t>
            </a:r>
            <a:endParaRPr lang="he-IL" sz="1200" dirty="0">
              <a:ln w="0"/>
              <a:solidFill>
                <a:srgbClr val="2F3341"/>
              </a:solidFill>
              <a:latin typeface="Heebo" pitchFamily="2" charset="-79"/>
              <a:cs typeface="Heebo" pitchFamily="2" charset="-79"/>
            </a:endParaRPr>
          </a:p>
        </p:txBody>
      </p:sp>
      <p:sp>
        <p:nvSpPr>
          <p:cNvPr id="18" name="מלבן 17">
            <a:extLst>
              <a:ext uri="{FF2B5EF4-FFF2-40B4-BE49-F238E27FC236}">
                <a16:creationId xmlns:a16="http://schemas.microsoft.com/office/drawing/2014/main" id="{0EA2F0FE-B10B-C268-0DC3-9F3672DBE328}"/>
              </a:ext>
            </a:extLst>
          </p:cNvPr>
          <p:cNvSpPr/>
          <p:nvPr/>
        </p:nvSpPr>
        <p:spPr>
          <a:xfrm>
            <a:off x="1916258" y="9902601"/>
            <a:ext cx="3683799" cy="239508"/>
          </a:xfrm>
          <a:prstGeom prst="rect">
            <a:avLst/>
          </a:prstGeom>
          <a:noFill/>
        </p:spPr>
        <p:txBody>
          <a:bodyPr wrap="square" lIns="54312" tIns="27156" rIns="54312" bIns="27156">
            <a:spAutoFit/>
          </a:bodyPr>
          <a:lstStyle/>
          <a:p>
            <a:pPr algn="ctr" rtl="1"/>
            <a:r>
              <a:rPr lang="he-IL" sz="1200" b="1" dirty="0">
                <a:ln w="0"/>
                <a:solidFill>
                  <a:srgbClr val="2F3341"/>
                </a:solidFill>
                <a:latin typeface="Heebo" pitchFamily="2" charset="-79"/>
                <a:cs typeface="Heebo" pitchFamily="2" charset="-79"/>
              </a:rPr>
              <a:t>או פנו לכתובת המייל </a:t>
            </a:r>
            <a:endParaRPr lang="he-IL" sz="1050" dirty="0">
              <a:ln w="0"/>
              <a:solidFill>
                <a:srgbClr val="2F3341"/>
              </a:solidFill>
              <a:latin typeface="Heebo" pitchFamily="2" charset="-79"/>
              <a:cs typeface="Heebo" pitchFamily="2" charset="-79"/>
            </a:endParaRPr>
          </a:p>
        </p:txBody>
      </p:sp>
      <p:sp>
        <p:nvSpPr>
          <p:cNvPr id="20" name="מלבן 19">
            <a:extLst>
              <a:ext uri="{FF2B5EF4-FFF2-40B4-BE49-F238E27FC236}">
                <a16:creationId xmlns:a16="http://schemas.microsoft.com/office/drawing/2014/main" id="{465EEB89-331A-8949-FD34-5CD4948B3DC8}"/>
              </a:ext>
            </a:extLst>
          </p:cNvPr>
          <p:cNvSpPr/>
          <p:nvPr/>
        </p:nvSpPr>
        <p:spPr>
          <a:xfrm>
            <a:off x="163183" y="132523"/>
            <a:ext cx="7195112" cy="10365748"/>
          </a:xfrm>
          <a:prstGeom prst="rect">
            <a:avLst/>
          </a:prstGeom>
          <a:noFill/>
          <a:ln w="57150">
            <a:solidFill>
              <a:srgbClr val="E9C76F"/>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1069"/>
          </a:p>
        </p:txBody>
      </p:sp>
      <p:sp>
        <p:nvSpPr>
          <p:cNvPr id="21" name="מלבן: פינות מעוגלות 20">
            <a:extLst>
              <a:ext uri="{FF2B5EF4-FFF2-40B4-BE49-F238E27FC236}">
                <a16:creationId xmlns:a16="http://schemas.microsoft.com/office/drawing/2014/main" id="{2290E8D2-A4E9-D682-BA81-2CC6D38AC90F}"/>
              </a:ext>
            </a:extLst>
          </p:cNvPr>
          <p:cNvSpPr/>
          <p:nvPr/>
        </p:nvSpPr>
        <p:spPr>
          <a:xfrm>
            <a:off x="-622868" y="-461760"/>
            <a:ext cx="1572102" cy="127025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1069"/>
          </a:p>
        </p:txBody>
      </p:sp>
      <p:sp>
        <p:nvSpPr>
          <p:cNvPr id="22" name="AutoShape 4" descr="‫, נוצר על ידי AI">
            <a:extLst>
              <a:ext uri="{FF2B5EF4-FFF2-40B4-BE49-F238E27FC236}">
                <a16:creationId xmlns:a16="http://schemas.microsoft.com/office/drawing/2014/main" id="{13DF2959-FA5D-CC5E-7CDB-9B8F8E29AABB}"/>
              </a:ext>
            </a:extLst>
          </p:cNvPr>
          <p:cNvSpPr>
            <a:spLocks noChangeAspect="1" noChangeArrowheads="1"/>
          </p:cNvSpPr>
          <p:nvPr/>
        </p:nvSpPr>
        <p:spPr bwMode="auto">
          <a:xfrm>
            <a:off x="3689317" y="5254915"/>
            <a:ext cx="181041" cy="18104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54312" tIns="27156" rIns="54312" bIns="27156" numCol="1" anchor="t" anchorCtr="0" compatLnSpc="1">
            <a:prstTxWarp prst="textNoShape">
              <a:avLst/>
            </a:prstTxWarp>
          </a:bodyPr>
          <a:lstStyle/>
          <a:p>
            <a:endParaRPr lang="he-IL" sz="1069"/>
          </a:p>
        </p:txBody>
      </p:sp>
      <p:pic>
        <p:nvPicPr>
          <p:cNvPr id="23" name="תמונה 22">
            <a:extLst>
              <a:ext uri="{FF2B5EF4-FFF2-40B4-BE49-F238E27FC236}">
                <a16:creationId xmlns:a16="http://schemas.microsoft.com/office/drawing/2014/main" id="{E68716B3-BC5E-4578-F340-43E948748E7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156" b="90340" l="9961" r="89844">
                        <a14:foregroundMark x1="55762" y1="90340" x2="45410" y2="87835"/>
                        <a14:foregroundMark x1="49414" y1="7156" x2="49414" y2="7156"/>
                      </a14:backgroundRemoval>
                    </a14:imgEffect>
                  </a14:imgLayer>
                </a14:imgProps>
              </a:ext>
            </a:extLst>
          </a:blip>
          <a:srcRect l="24017" r="23919"/>
          <a:stretch/>
        </p:blipFill>
        <p:spPr>
          <a:xfrm>
            <a:off x="163183" y="37105"/>
            <a:ext cx="674926" cy="707666"/>
          </a:xfrm>
          <a:prstGeom prst="rect">
            <a:avLst/>
          </a:prstGeom>
        </p:spPr>
      </p:pic>
    </p:spTree>
    <p:extLst>
      <p:ext uri="{BB962C8B-B14F-4D97-AF65-F5344CB8AC3E}">
        <p14:creationId xmlns:p14="http://schemas.microsoft.com/office/powerpoint/2010/main" val="3161335346"/>
      </p:ext>
    </p:extLst>
  </p:cSld>
  <p:clrMapOvr>
    <a:masterClrMapping/>
  </p:clrMapOvr>
</p:sld>
</file>

<file path=ppt/theme/theme1.xml><?xml version="1.0" encoding="utf-8"?>
<a:theme xmlns:a="http://schemas.openxmlformats.org/drawingml/2006/main" name="ערכת נושא Office">
  <a:themeElements>
    <a:clrScheme name="ערכת נושא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ערכת נושא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ערכת נושא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TotalTime>
  <Words>285</Words>
  <Application>Microsoft Office PowerPoint</Application>
  <PresentationFormat>מותאם אישית</PresentationFormat>
  <Paragraphs>18</Paragraphs>
  <Slides>1</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1</vt:i4>
      </vt:variant>
    </vt:vector>
  </HeadingPairs>
  <TitlesOfParts>
    <vt:vector size="7" baseType="lpstr">
      <vt:lpstr>Aptos</vt:lpstr>
      <vt:lpstr>Aptos Display</vt:lpstr>
      <vt:lpstr>Arial</vt:lpstr>
      <vt:lpstr>Heebo</vt:lpstr>
      <vt:lpstr>NextExit Rounded Bold</vt:lpstr>
      <vt:lpstr>ערכת נושא Office</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 Ben shimon</dc:creator>
  <cp:lastModifiedBy>Or Ben shimon</cp:lastModifiedBy>
  <cp:revision>2</cp:revision>
  <dcterms:created xsi:type="dcterms:W3CDTF">2026-06-28T12:21:05Z</dcterms:created>
  <dcterms:modified xsi:type="dcterms:W3CDTF">2026-06-28T12:24:15Z</dcterms:modified>
</cp:coreProperties>
</file>