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56" r:id="rId2"/>
  </p:sldIdLst>
  <p:sldSz cx="12192000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55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55149"/>
            <a:ext cx="1036320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49128"/>
            <a:ext cx="9144000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773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812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64352"/>
            <a:ext cx="1051560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41353"/>
            <a:ext cx="1051560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>
                    <a:tint val="82000"/>
                  </a:schemeClr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82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82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362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04273"/>
            <a:ext cx="5181600" cy="52538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04273"/>
            <a:ext cx="5181600" cy="52538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413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40856"/>
            <a:ext cx="10515600" cy="160049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29849"/>
            <a:ext cx="5157787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24646"/>
            <a:ext cx="5157787" cy="444879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29849"/>
            <a:ext cx="518318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24646"/>
            <a:ext cx="5183188" cy="444879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360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028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927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2027"/>
            <a:ext cx="3932237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2226"/>
            <a:ext cx="6172200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120"/>
            <a:ext cx="3932237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53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2027"/>
            <a:ext cx="3932237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92226"/>
            <a:ext cx="6172200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120"/>
            <a:ext cx="3932237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128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969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40855"/>
            <a:ext cx="2628900" cy="701725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40855"/>
            <a:ext cx="7734300" cy="701725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612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40856"/>
            <a:ext cx="1051560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04273"/>
            <a:ext cx="1051560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674706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1EA03-0F10-49A9-9B2B-A1B2A70BBA64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674706"/>
            <a:ext cx="41148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674706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A7D64-7ACA-4847-9B38-5981633B05B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021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1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r" defTabSz="1104047" rtl="1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r" defTabSz="1104047" rtl="1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r" defTabSz="1104047" rtl="1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49373B1E-3507-4238-8F18-EAD0FFC58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028746"/>
              </p:ext>
            </p:extLst>
          </p:nvPr>
        </p:nvGraphicFramePr>
        <p:xfrm>
          <a:off x="291430" y="1232866"/>
          <a:ext cx="11408737" cy="6795197"/>
        </p:xfrm>
        <a:graphic>
          <a:graphicData uri="http://schemas.openxmlformats.org/drawingml/2006/table">
            <a:tbl>
              <a:tblPr/>
              <a:tblGrid>
                <a:gridCol w="3880883">
                  <a:extLst>
                    <a:ext uri="{9D8B030D-6E8A-4147-A177-3AD203B41FA5}">
                      <a16:colId xmlns:a16="http://schemas.microsoft.com/office/drawing/2014/main" val="4052735756"/>
                    </a:ext>
                  </a:extLst>
                </a:gridCol>
                <a:gridCol w="1754372">
                  <a:extLst>
                    <a:ext uri="{9D8B030D-6E8A-4147-A177-3AD203B41FA5}">
                      <a16:colId xmlns:a16="http://schemas.microsoft.com/office/drawing/2014/main" val="3200349775"/>
                    </a:ext>
                  </a:extLst>
                </a:gridCol>
                <a:gridCol w="2020186">
                  <a:extLst>
                    <a:ext uri="{9D8B030D-6E8A-4147-A177-3AD203B41FA5}">
                      <a16:colId xmlns:a16="http://schemas.microsoft.com/office/drawing/2014/main" val="3346517803"/>
                    </a:ext>
                  </a:extLst>
                </a:gridCol>
                <a:gridCol w="1847487">
                  <a:extLst>
                    <a:ext uri="{9D8B030D-6E8A-4147-A177-3AD203B41FA5}">
                      <a16:colId xmlns:a16="http://schemas.microsoft.com/office/drawing/2014/main" val="3468454678"/>
                    </a:ext>
                  </a:extLst>
                </a:gridCol>
                <a:gridCol w="770155">
                  <a:extLst>
                    <a:ext uri="{9D8B030D-6E8A-4147-A177-3AD203B41FA5}">
                      <a16:colId xmlns:a16="http://schemas.microsoft.com/office/drawing/2014/main" val="2366850079"/>
                    </a:ext>
                  </a:extLst>
                </a:gridCol>
                <a:gridCol w="1135654">
                  <a:extLst>
                    <a:ext uri="{9D8B030D-6E8A-4147-A177-3AD203B41FA5}">
                      <a16:colId xmlns:a16="http://schemas.microsoft.com/office/drawing/2014/main" val="2610970185"/>
                    </a:ext>
                  </a:extLst>
                </a:gridCol>
              </a:tblGrid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50" b="1" dirty="0">
                          <a:solidFill>
                            <a:schemeClr val="bg1"/>
                          </a:solidFill>
                          <a:latin typeface="NextExit Rounded Bold" panose="00000800000000000000" pitchFamily="50" charset="-79"/>
                          <a:cs typeface="NextExit Rounded Bold" panose="00000800000000000000" pitchFamily="50" charset="-79"/>
                        </a:rPr>
                        <a:t>דגש ערכי ליברלי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5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50" b="1" dirty="0">
                          <a:solidFill>
                            <a:schemeClr val="bg1"/>
                          </a:solidFill>
                          <a:latin typeface="NextExit Rounded Bold" panose="00000800000000000000" pitchFamily="50" charset="-79"/>
                          <a:cs typeface="NextExit Rounded Bold" panose="00000800000000000000" pitchFamily="50" charset="-79"/>
                        </a:rPr>
                        <a:t>המלצה לארגון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5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50" b="1" dirty="0">
                          <a:solidFill>
                            <a:schemeClr val="bg1"/>
                          </a:solidFill>
                          <a:latin typeface="NextExit Rounded Bold" panose="00000800000000000000" pitchFamily="50" charset="-79"/>
                          <a:cs typeface="NextExit Rounded Bold" panose="00000800000000000000" pitchFamily="50" charset="-79"/>
                        </a:rPr>
                        <a:t>הסבר קצר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5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50" b="1" dirty="0">
                          <a:solidFill>
                            <a:schemeClr val="bg1"/>
                          </a:solidFill>
                          <a:latin typeface="NextExit Rounded Bold" panose="00000800000000000000" pitchFamily="50" charset="-79"/>
                          <a:cs typeface="NextExit Rounded Bold" panose="00000800000000000000" pitchFamily="50" charset="-79"/>
                        </a:rPr>
                        <a:t>מועד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5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50" b="1" dirty="0">
                          <a:solidFill>
                            <a:schemeClr val="bg1"/>
                          </a:solidFill>
                          <a:latin typeface="NextExit Rounded Bold" panose="00000800000000000000" pitchFamily="50" charset="-79"/>
                          <a:cs typeface="NextExit Rounded Bold" panose="00000800000000000000" pitchFamily="50" charset="-79"/>
                        </a:rPr>
                        <a:t>שכבה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5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50" b="1" dirty="0">
                          <a:solidFill>
                            <a:schemeClr val="bg1"/>
                          </a:solidFill>
                          <a:latin typeface="NextExit Rounded Bold" panose="00000800000000000000" pitchFamily="50" charset="-79"/>
                          <a:cs typeface="NextExit Rounded Bold" panose="00000800000000000000" pitchFamily="50" charset="-79"/>
                        </a:rPr>
                        <a:t>תאריך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5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17430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מטרות משותפות, שוויון הזדמנויות והתחדשות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ברכה + ניוזלטר פתיחת שנה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תחילת השנה הלועזית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השנה האזרחית החדשה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1 בינואר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42213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מאבק בגזענות, שנאה ופגיעה בדמוקרטיה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ניוזלטר רגיש + למידה ארגונית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זיכרון לשואה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הזיכרון הבין־לאומי לשואה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27 בינואר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781910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הכלה של שונות ודעות מגוונות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קמפיין פנימי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קידום קבלת האחר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הסובלנות העולמי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פברואר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898520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כבוד בין־דתי וגמישות תרבותית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ניוזלטר + התאמות תרבותיות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חודש צום והתחדשות באסלאם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חודש הרמדאן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מרץ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391612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צמצום פערים מגדריים והעצמה אמיתית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אירוע + ברכה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קידום שוויון מגדרי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האישה הבין־לאומי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8 במרץ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019746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שוויון זכויות לכל אדם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שיח ארגוני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מאבק באפליה וגזענות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המאבק בגזענות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21 במרץ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537804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חירות אישית, חופש בחירה ושחרור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ברכה + ניוזלטר חגיגי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חג החירות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פסח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מרץ–אפריל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480511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תקווה, התחדשות וחופש אמונה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ברכה לעובדים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חג נוצרי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חג הפסחא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מרץ–אפריל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79436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אחריות דמוקרטית למניעת שנאה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טקס ממלכתי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זיכרון לאומי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השואה והגבורה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אפריל–מאי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464156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מחיר הדמוקרטיה והחיים המשותפים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טקס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זיכרון לחללים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הזיכרון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אפריל–מאי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126299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חופש אזרחי ודמוקרטיה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אירוע חגיגי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הקמת המדינה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יום העצמאות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אפריל–מאי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66307"/>
                  </a:ext>
                </a:extLst>
              </a:tr>
              <a:tr h="2699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הזדמנות להציג משפחות מגוונות (חד־הוריות, חד־מיניות, משפחות מורכבות)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ברכה + תוכן קליל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חיזוק התא המשפחתי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יום המשפחה הבינלאומי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15 במאי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857704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הכלה, נראות וכבוד לזהויות שונות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קמפיין + אירוע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שוויון לקהילה הגאה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חודש הגאווה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מאי–יוני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575420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ידע, למידה וחופש מחשבה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ברכה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חג מתן תורה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שבועות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יוני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02453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אמפתיה וזכויות אדם אוניברסליות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ניוזלטר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זכויות פליטים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הפליטים העולמי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20 ביוני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749159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פתרון סכסוכים בדרכי דיאלוג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פעילות ארגונית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קידום שלום עולמי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השלום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21 בספטמבר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238213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שקיפות, שוויון קול והשתתפות אזרחית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פאנל ושיח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חיזוק דמוקרטיה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הדמוקרטיה הבין־לאומי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15 בספטמבר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863391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חיזוק תרבות דמוקרטית וחופש ביטוי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קמפיין + סדנאות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שבוע פעילות ארגוני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שבוע הדמוקרטיה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נובמבר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923310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מאבק באלימות פוליטית והגנה על דמוקרטיה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טקס + ניוזלטר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זיכרון לרצח ראש הממשלה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הזיכרון ליצחק רבין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נובמבר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247828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דיפלומטיה, פיוס ושיתופי פעולה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ניוזלטר היסטורי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הסכם שלום אזורי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הסכם השלום עם ירדן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26 באוקטובר 1994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088986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התחדשות אישית וחברתית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ברכה + ניוזלטר חגיגי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תחילת השנה העברית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ראש השנה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ספטמבר–אוקטובר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967795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אחריות אישית וחברתית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הודעה ארגונית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חשבון נפש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כיפור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ספטמבר–אוקטובר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90691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פשטות ושוויון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ברכה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חג האסיף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סוכות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חובה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ספטמבר–אוקטובר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73111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הפחתת סטיגמות ותמיכה נפשית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סדנה + ניוזלטר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מודעות נפשית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בריאות הנפש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10 באוקטובר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52092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חופש, פירוק משטרים מדכאים ואחדות אנושית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ניוזלטר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סיום חומת ההפרדה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נפילת חומת ברלין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9 בנובמבר 1989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403778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חיים משותפים בחברה מגוונת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קמפיין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קבלת האחר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הסובלנות הבין־לאומי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16 בנובמבר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425780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שוויון הזדמנויות מלא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פעילות ארגונית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שילוב אנשים עם מוגבלות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זכויות אנשים עם מוגבלות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3 בדצמבר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40286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זכויות שוות לכל אדם ללא הבדל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ניוזלטר + הרצאה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זכויות אוניברסליות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יום זכויות האדם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>
                          <a:latin typeface="Heebo" pitchFamily="2" charset="-79"/>
                          <a:cs typeface="Heebo" pitchFamily="2" charset="-79"/>
                        </a:rPr>
                        <a:t>10 בדצמבר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950414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 err="1">
                          <a:latin typeface="Heebo" pitchFamily="2" charset="-79"/>
                          <a:cs typeface="Heebo" pitchFamily="2" charset="-79"/>
                        </a:rPr>
                        <a:t>רב־תרבותיות</a:t>
                      </a: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 וכבוד בין דתות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ברכה ארגונית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חג נוצרי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חג המולד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ערכים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e-IL" sz="1000" dirty="0">
                          <a:latin typeface="Heebo" pitchFamily="2" charset="-79"/>
                          <a:cs typeface="Heebo" pitchFamily="2" charset="-79"/>
                        </a:rPr>
                        <a:t>25 בדצמבר</a:t>
                      </a:r>
                    </a:p>
                  </a:txBody>
                  <a:tcPr marL="15096" marR="15096" marT="7548" marB="75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792407"/>
                  </a:ext>
                </a:extLst>
              </a:tr>
            </a:tbl>
          </a:graphicData>
        </a:graphic>
      </p:graphicFrame>
      <p:sp>
        <p:nvSpPr>
          <p:cNvPr id="7" name="מלבן 6">
            <a:extLst>
              <a:ext uri="{FF2B5EF4-FFF2-40B4-BE49-F238E27FC236}">
                <a16:creationId xmlns:a16="http://schemas.microsoft.com/office/drawing/2014/main" id="{40B46E0D-90EE-6984-3C85-7644C92992AF}"/>
              </a:ext>
            </a:extLst>
          </p:cNvPr>
          <p:cNvSpPr/>
          <p:nvPr/>
        </p:nvSpPr>
        <p:spPr>
          <a:xfrm>
            <a:off x="6005946" y="327915"/>
            <a:ext cx="5704612" cy="431174"/>
          </a:xfrm>
          <a:prstGeom prst="rect">
            <a:avLst/>
          </a:prstGeom>
          <a:solidFill>
            <a:srgbClr val="4E55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14C56EED-D453-EC10-D35C-CDF897D7A61B}"/>
              </a:ext>
            </a:extLst>
          </p:cNvPr>
          <p:cNvSpPr/>
          <p:nvPr/>
        </p:nvSpPr>
        <p:spPr>
          <a:xfrm>
            <a:off x="5253935" y="281892"/>
            <a:ext cx="7268610" cy="523220"/>
          </a:xfrm>
          <a:prstGeom prst="rect">
            <a:avLst/>
          </a:prstGeom>
          <a:noFill/>
        </p:spPr>
        <p:txBody>
          <a:bodyPr wrap="square" lIns="91439" tIns="45720" rIns="91439" bIns="45720">
            <a:spAutoFit/>
          </a:bodyPr>
          <a:lstStyle/>
          <a:p>
            <a:pPr algn="ctr" rtl="1"/>
            <a:r>
              <a:rPr lang="he-IL" sz="2800" dirty="0">
                <a:ln w="0"/>
                <a:solidFill>
                  <a:schemeClr val="bg1"/>
                </a:solidFill>
                <a:latin typeface="NextExit Rounded Bold" panose="00000800000000000000" pitchFamily="50" charset="-79"/>
                <a:cs typeface="NextExit Rounded Bold" panose="00000800000000000000" pitchFamily="50" charset="-79"/>
              </a:rPr>
              <a:t>לוח מועדים וחגים למנהלות </a:t>
            </a:r>
            <a:r>
              <a:rPr lang="he-IL" sz="2800" dirty="0" err="1">
                <a:ln w="0"/>
                <a:solidFill>
                  <a:schemeClr val="bg1"/>
                </a:solidFill>
                <a:latin typeface="NextExit Rounded Bold" panose="00000800000000000000" pitchFamily="50" charset="-79"/>
                <a:cs typeface="NextExit Rounded Bold" panose="00000800000000000000" pitchFamily="50" charset="-79"/>
              </a:rPr>
              <a:t>משא"ן</a:t>
            </a:r>
            <a:r>
              <a:rPr lang="he-IL" sz="2800" dirty="0">
                <a:ln w="0"/>
                <a:solidFill>
                  <a:schemeClr val="bg1"/>
                </a:solidFill>
                <a:latin typeface="NextExit Rounded Bold" panose="00000800000000000000" pitchFamily="50" charset="-79"/>
                <a:cs typeface="NextExit Rounded Bold" panose="00000800000000000000" pitchFamily="50" charset="-79"/>
              </a:rPr>
              <a:t> ברשויות 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47FE879A-0F19-6497-578E-BE2327D96B53}"/>
              </a:ext>
            </a:extLst>
          </p:cNvPr>
          <p:cNvSpPr/>
          <p:nvPr/>
        </p:nvSpPr>
        <p:spPr>
          <a:xfrm>
            <a:off x="7616537" y="825894"/>
            <a:ext cx="4083630" cy="297291"/>
          </a:xfrm>
          <a:prstGeom prst="rect">
            <a:avLst/>
          </a:prstGeom>
          <a:solidFill>
            <a:srgbClr val="E9C7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9E07815C-1133-DCFC-1072-4B2E34F4BEED}"/>
              </a:ext>
            </a:extLst>
          </p:cNvPr>
          <p:cNvSpPr/>
          <p:nvPr/>
        </p:nvSpPr>
        <p:spPr>
          <a:xfrm>
            <a:off x="6085208" y="805112"/>
            <a:ext cx="7268610" cy="369332"/>
          </a:xfrm>
          <a:prstGeom prst="rect">
            <a:avLst/>
          </a:prstGeom>
          <a:noFill/>
        </p:spPr>
        <p:txBody>
          <a:bodyPr wrap="square" lIns="91439" tIns="45720" rIns="91439" bIns="45720">
            <a:spAutoFit/>
          </a:bodyPr>
          <a:lstStyle/>
          <a:p>
            <a:pPr algn="ctr" rtl="1"/>
            <a:r>
              <a:rPr lang="he-IL" dirty="0">
                <a:ln w="0"/>
                <a:solidFill>
                  <a:schemeClr val="bg1"/>
                </a:solidFill>
                <a:latin typeface="NextExit Rounded Bold" panose="00000800000000000000" pitchFamily="50" charset="-79"/>
                <a:cs typeface="NextExit Rounded Bold" panose="00000800000000000000" pitchFamily="50" charset="-79"/>
              </a:rPr>
              <a:t>הזדמנות לציין ולחגוג דמוקרטיה ליברלית בארגון 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3C4B447F-04A1-7681-9BD2-4465348C3AB7}"/>
              </a:ext>
            </a:extLst>
          </p:cNvPr>
          <p:cNvSpPr/>
          <p:nvPr/>
        </p:nvSpPr>
        <p:spPr>
          <a:xfrm>
            <a:off x="0" y="0"/>
            <a:ext cx="12192000" cy="8280400"/>
          </a:xfrm>
          <a:prstGeom prst="rect">
            <a:avLst/>
          </a:prstGeom>
          <a:noFill/>
          <a:ln w="76200">
            <a:solidFill>
              <a:srgbClr val="4E55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485044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ערכת נושא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496</Words>
  <Application>Microsoft Office PowerPoint</Application>
  <PresentationFormat>מותאם אישית</PresentationFormat>
  <Paragraphs>182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Heebo</vt:lpstr>
      <vt:lpstr>NextExit Rounded Bold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 Ben shimon</dc:creator>
  <cp:lastModifiedBy>Or Ben shimon</cp:lastModifiedBy>
  <cp:revision>1</cp:revision>
  <dcterms:created xsi:type="dcterms:W3CDTF">2026-05-30T15:10:49Z</dcterms:created>
  <dcterms:modified xsi:type="dcterms:W3CDTF">2026-05-30T15:14:30Z</dcterms:modified>
</cp:coreProperties>
</file>